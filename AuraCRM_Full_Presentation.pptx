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941832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2103120" cy="6350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92024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AuraCRM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9260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00D2FF"/>
                </a:solidFill>
                <a:latin typeface="Calibri"/>
              </a:defRPr>
            </a:pPr>
            <a:r>
              <a:t>Voice-Driven AI Sales 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3749039"/>
            <a:ext cx="155448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02336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0C0"/>
                </a:solidFill>
                <a:latin typeface="Calibri"/>
              </a:defRPr>
            </a:pPr>
            <a:r>
              <a:t>Transforming CRM Pipelines with Intelligent, Real-Time Conversations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37160" cy="5486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Voice-First Revolution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D2FF"/>
                </a:solidFill>
                <a:latin typeface="Calibri"/>
              </a:defRPr>
            </a:pPr>
            <a:r>
              <a:t>"The Whole Website Works With Voice" — A Hands-Free CRM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698480" cy="43891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9784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🎙️ Omni-Directional Voice Control: Navigate menus, open files, and search contacts with natural speech.</a:t>
            </a:r>
          </a:p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🎙️ Active Listening Mode: Aura parses real-time intent from your conversations.</a:t>
            </a:r>
          </a:p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🎙️ Hands-Free Pipeline Management: Move deals and update statuses without clicking.</a:t>
            </a:r>
          </a:p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🎙️ Integrated Voice Assistant: Toggles on/off with visual 'Pulse' animations.</a:t>
            </a:r>
          </a:p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🎙️ Real-Time Speech-to-Intent: Uses advanced NLP to translate voice into platform actions.</a:t>
            </a:r>
          </a:p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🎙️ Accessibility &amp; Speed: Empowering sales reps to work 2X faster than manual input.</a:t>
            </a:r>
          </a:p>
        </p:txBody>
      </p:sp>
    </p:spTree>
  </p:cSld>
  <p:clrMapOvr>
    <a:masterClrMapping/>
  </p:clrMapOvr>
  <p:transition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37160" cy="5486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Aura Assistant: Your AI Partner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Calibri"/>
              </a:defRPr>
            </a:pPr>
            <a:r>
              <a:t>AI Chat &amp; Voice Synergy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0B0C0"/>
                </a:solidFill>
                <a:latin typeface="Calibri"/>
              </a:defRPr>
            </a:pPr>
            <a:r>
              <a:t>💬 Context-Aware Conversations: Understands which customer you are viewing.</a:t>
            </a:r>
          </a:p>
          <a:p>
            <a:pPr>
              <a:spcAft>
                <a:spcPts val="800"/>
              </a:spcAft>
              <a:defRPr sz="1600">
                <a:solidFill>
                  <a:srgbClr val="B0B0C0"/>
                </a:solidFill>
                <a:latin typeface="Calibri"/>
              </a:defRPr>
            </a:pPr>
            <a:r>
              <a:t>💬 Dual-Mode Interaction: Switch seamlessly between typing and talking.</a:t>
            </a:r>
          </a:p>
          <a:p>
            <a:pPr>
              <a:spcAft>
                <a:spcPts val="800"/>
              </a:spcAft>
              <a:defRPr sz="1600">
                <a:solidFill>
                  <a:srgbClr val="B0B0C0"/>
                </a:solidFill>
                <a:latin typeface="Calibri"/>
              </a:defRPr>
            </a:pPr>
            <a:r>
              <a:t>💬 Text-to-Speech (TTS): Aura replies with natural, premium female voices (Samantha/Victoria).</a:t>
            </a:r>
          </a:p>
          <a:p>
            <a:pPr>
              <a:spcAft>
                <a:spcPts val="800"/>
              </a:spcAft>
              <a:defRPr sz="1600">
                <a:solidFill>
                  <a:srgbClr val="B0B0C0"/>
                </a:solidFill>
                <a:latin typeface="Calibri"/>
              </a:defRPr>
            </a:pPr>
            <a:r>
              <a:t>💬 Product Interest Analysis: Deep dive into customer needs via AI dialogue.</a:t>
            </a:r>
          </a:p>
          <a:p>
            <a:pPr>
              <a:spcAft>
                <a:spcPts val="800"/>
              </a:spcAft>
              <a:defRPr sz="1600">
                <a:solidFill>
                  <a:srgbClr val="B0B0C0"/>
                </a:solidFill>
                <a:latin typeface="Calibri"/>
              </a:defRPr>
            </a:pPr>
            <a:r>
              <a:t>💬 Interactive UI: Glassmorphism window with 'Typing...' indicators.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45920"/>
            <a:ext cx="484632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9202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9D"/>
                </a:solidFill>
                <a:latin typeface="Calibri"/>
              </a:defRPr>
            </a:pPr>
            <a:r>
              <a:t>Natural Voice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56032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"I see you're looking at TechFlow Inc. Would you like me to draft an follow-up or schedule a demo?"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4846320" cy="50800"/>
          </a:xfrm>
          <a:prstGeom prst="round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37160" cy="5486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Smart Email Generator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5080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Calibri"/>
              </a:defRPr>
            </a:pPr>
            <a:r>
              <a:t>Context-Driven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784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📧 Highly Personalized Content: AI drafts emails tailored to customer interest and history.</a:t>
            </a:r>
          </a:p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📧 Tone Selection: Choose between Professional, Friendly, Urgent, or Consultative styles.</a:t>
            </a:r>
          </a:p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📧 Automated Generation: Fresh content generated in 2 seconds via AI Integration.</a:t>
            </a:r>
          </a:p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📧 One-Click Dispatch: Integrated 'Send' button with Nodemailer server backend.</a:t>
            </a:r>
          </a:p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📧 Smart Scheduling: Choose a future date/time to send emails automatically.</a:t>
            </a:r>
          </a:p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📧 Contextual Goal Setting: High-intent outreach, follow-ups, or re-engaging ghosted leads.</a:t>
            </a:r>
          </a:p>
        </p:txBody>
      </p:sp>
    </p:spTree>
  </p:cSld>
  <p:clrMapOvr>
    <a:masterClrMapping/>
  </p:clrMapOvr>
  <p:transition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37160" cy="5486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Sales Insights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0972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76"/>
                </a:solidFill>
                <a:latin typeface="Calibri"/>
              </a:defRPr>
            </a:pPr>
            <a:r>
              <a:t>Pipeline Health: 92/100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828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Calibri"/>
              </a:defRPr>
            </a:pPr>
            <a:r>
              <a:t>Predicted Win Rate: 68%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828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9F43"/>
                </a:solidFill>
                <a:latin typeface="Calibri"/>
              </a:defRPr>
            </a:pPr>
            <a:r>
              <a:t>AI Recommendations: High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521208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2004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F43"/>
                </a:solidFill>
                <a:latin typeface="Calibri"/>
              </a:defRPr>
            </a:pPr>
            <a:r>
              <a:t>AI Priority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49039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  <a:latin typeface="Calibri"/>
              </a:defRPr>
            </a:pPr>
            <a:r>
              <a:t>⚡ Detects hesitant decision makers via AI Emotion Analysis.</a:t>
            </a: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  <a:latin typeface="Calibri"/>
              </a:defRPr>
            </a:pPr>
            <a:r>
              <a:t>⚡ Identifies technical review completion for proposal generation.</a:t>
            </a: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  <a:latin typeface="Calibri"/>
              </a:defRPr>
            </a:pPr>
            <a:r>
              <a:t>⚡ Flags high-value deals requiring immediate outreach.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017520"/>
            <a:ext cx="521208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2004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9D"/>
                </a:solidFill>
                <a:latin typeface="Calibri"/>
              </a:defRPr>
            </a:pPr>
            <a:r>
              <a:t>Global Risk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749039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  <a:latin typeface="Calibri"/>
              </a:defRPr>
            </a:pPr>
            <a:r>
              <a:t>🚨 Competitor Surge: Real-time detection of competitor mentions.</a:t>
            </a: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  <a:latin typeface="Calibri"/>
              </a:defRPr>
            </a:pPr>
            <a:r>
              <a:t>🚨 Engagement Drop: Automatic tracking of response time delays.</a:t>
            </a: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  <a:latin typeface="Calibri"/>
              </a:defRPr>
            </a:pPr>
            <a:r>
              <a:t>🚨 AI Sales Coach: Actionable tips to combat risks.</a:t>
            </a:r>
          </a:p>
        </p:txBody>
      </p:sp>
    </p:spTree>
  </p:cSld>
  <p:clrMapOvr>
    <a:masterClrMapping/>
  </p:clrMapOvr>
  <p:transition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37160" cy="5486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Clean &amp; Premium UI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D2FF"/>
                </a:solidFill>
                <a:latin typeface="Calibri"/>
              </a:defRPr>
            </a:pPr>
            <a:r>
              <a:t>A Visual Experience That Feels 'Alive'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21208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37160" cy="201168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945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💎  Glassmorphism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Calibri"/>
              </a:defRPr>
            </a:pPr>
            <a:r>
              <a:t>Deep shadows, blurred surfaces, and layered depth.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920240"/>
            <a:ext cx="521208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59" y="1920240"/>
            <a:ext cx="137160" cy="20116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59" y="21945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✨  Micro-Animations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59" y="28346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Calibri"/>
              </a:defRPr>
            </a:pPr>
            <a:r>
              <a:t>Smooth fades, pulses, and transitions.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521208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137160" cy="2011680"/>
          </a:xfrm>
          <a:prstGeom prst="round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5720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🎨  Harmonious Palette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21208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Calibri"/>
              </a:defRPr>
            </a:pPr>
            <a:r>
              <a:t>Custom Charcoal/Ivory/Accent theme.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4297680"/>
            <a:ext cx="521208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59" y="4297680"/>
            <a:ext cx="137160" cy="201168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59" y="45720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📱  Responsive Layout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521208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Calibri"/>
              </a:defRPr>
            </a:pPr>
            <a:r>
              <a:t>Spacious and adaptable interface.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37160" cy="5486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Smart Follow-Up Scheduler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508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9784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📅 Custom Date &amp; Time Selection: Intuitive meeting picker.</a:t>
            </a:r>
          </a:p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📅 Auto Google Meet Links: Unique 'meet.google.com' links generated instantly.</a:t>
            </a:r>
          </a:p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📅 Nodemailer Hub: Sends official invites directly to client inboxes.</a:t>
            </a:r>
          </a:p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📅 Calendar Display: Visual confirmation of scheduled activities.</a:t>
            </a:r>
          </a:p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📅 Seamless Backend: Live integration between Frontend, Server, and Email.</a:t>
            </a:r>
          </a:p>
        </p:txBody>
      </p:sp>
    </p:spTree>
  </p:cSld>
  <p:clrMapOvr>
    <a:masterClrMapping/>
  </p:clrMapOvr>
  <p:transition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37160" cy="5486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Customer Lobby &amp; CRM Database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Calibri"/>
              </a:defRPr>
            </a:pPr>
            <a:r>
              <a:t>Live Status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0B0C0"/>
                </a:solidFill>
                <a:latin typeface="Calibri"/>
              </a:defRPr>
            </a:pPr>
            <a:r>
              <a:t>👥 Real-time badges: Active, Pending, In Pipeline.</a:t>
            </a:r>
          </a:p>
          <a:p>
            <a:pPr>
              <a:spcAft>
                <a:spcPts val="800"/>
              </a:spcAft>
              <a:defRPr sz="1600">
                <a:solidFill>
                  <a:srgbClr val="B0B0C0"/>
                </a:solidFill>
                <a:latin typeface="Calibri"/>
              </a:defRPr>
            </a:pPr>
            <a:r>
              <a:t>👥 Global search and filtering by interest.</a:t>
            </a:r>
          </a:p>
          <a:p>
            <a:pPr>
              <a:spcAft>
                <a:spcPts val="800"/>
              </a:spcAft>
              <a:defRPr sz="1600">
                <a:solidFill>
                  <a:srgbClr val="B0B0C0"/>
                </a:solidFill>
                <a:latin typeface="Calibri"/>
              </a:defRPr>
            </a:pPr>
            <a:r>
              <a:t>👥 Quick-action icons for Email/Proposal/Meeting.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Calibri"/>
              </a:defRPr>
            </a:pPr>
            <a:r>
              <a:t>Database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56032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0B0C0"/>
                </a:solidFill>
                <a:latin typeface="Calibri"/>
              </a:defRPr>
            </a:pPr>
            <a:r>
              <a:t>💾 MongoDB Integration: Persistent data storage.</a:t>
            </a:r>
          </a:p>
          <a:p>
            <a:pPr>
              <a:spcAft>
                <a:spcPts val="800"/>
              </a:spcAft>
              <a:defRPr sz="1600">
                <a:solidFill>
                  <a:srgbClr val="B0B0C0"/>
                </a:solidFill>
                <a:latin typeface="Calibri"/>
              </a:defRPr>
            </a:pPr>
            <a:r>
              <a:t>💾 Direct Deletion: Secure API-based customer removal.</a:t>
            </a:r>
          </a:p>
          <a:p>
            <a:pPr>
              <a:spcAft>
                <a:spcPts val="800"/>
              </a:spcAft>
              <a:defRPr sz="1600">
                <a:solidFill>
                  <a:srgbClr val="B0B0C0"/>
                </a:solidFill>
                <a:latin typeface="Calibri"/>
              </a:defRPr>
            </a:pPr>
            <a:r>
              <a:t>💾 Safety Confirmation: Guardrails for critical data actions.</a:t>
            </a:r>
          </a:p>
        </p:txBody>
      </p:sp>
    </p:spTree>
  </p:cSld>
  <p:clrMapOvr>
    <a:masterClrMapping/>
  </p:clrMapOvr>
  <p:transition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37160" cy="5486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Global Inbox &amp; Communications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5080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9784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📥 Contextual Urgency Badges: Auto-flags High/Medium/Low priority emails.</a:t>
            </a:r>
          </a:p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📥 Integrated Date Filtering: Built-in calendar for communication history.</a:t>
            </a:r>
          </a:p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📥 Inbox/Sent Toggle: Switch between client messages and automated invites.</a:t>
            </a:r>
          </a:p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📥 Communication Audit: Full transparency into all client touchpoints.</a:t>
            </a:r>
          </a:p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📥 Real-time Updates: Fetching latest correspondence from the server.</a:t>
            </a:r>
          </a:p>
        </p:txBody>
      </p:sp>
    </p:spTree>
  </p:cSld>
  <p:clrMapOvr>
    <a:masterClrMapping/>
  </p:clrMapOvr>
  <p:transition>
    <p:push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37160" cy="5486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Account Summarizer &amp; Proposals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alibri"/>
              </a:defRPr>
            </a:pPr>
            <a:r>
              <a:t>Account Summarizer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0B0C0"/>
                </a:solidFill>
                <a:latin typeface="Calibri"/>
              </a:defRPr>
            </a:pPr>
            <a:r>
              <a:t>📄 Generates concise briefs of client needs.</a:t>
            </a:r>
          </a:p>
          <a:p>
            <a:pPr>
              <a:spcAft>
                <a:spcPts val="800"/>
              </a:spcAft>
              <a:defRPr sz="1600">
                <a:solidFill>
                  <a:srgbClr val="B0B0C0"/>
                </a:solidFill>
                <a:latin typeface="Calibri"/>
              </a:defRPr>
            </a:pPr>
            <a:r>
              <a:t>📄 Highlights budget and timeline for reps.</a:t>
            </a:r>
          </a:p>
          <a:p>
            <a:pPr>
              <a:spcAft>
                <a:spcPts val="800"/>
              </a:spcAft>
              <a:defRPr sz="1600">
                <a:solidFill>
                  <a:srgbClr val="B0B0C0"/>
                </a:solidFill>
                <a:latin typeface="Calibri"/>
              </a:defRPr>
            </a:pPr>
            <a:r>
              <a:t>📄 Allows for 1-click meeting scheduling.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9D"/>
                </a:solidFill>
                <a:latin typeface="Calibri"/>
              </a:defRPr>
            </a:pPr>
            <a:r>
              <a:t>Tailored Proposals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56032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0B0C0"/>
                </a:solidFill>
                <a:latin typeface="Calibri"/>
              </a:defRPr>
            </a:pPr>
            <a:r>
              <a:t>📊 Itemized software requirement analysis.</a:t>
            </a:r>
          </a:p>
          <a:p>
            <a:pPr>
              <a:spcAft>
                <a:spcPts val="800"/>
              </a:spcAft>
              <a:defRPr sz="1600">
                <a:solidFill>
                  <a:srgbClr val="B0B0C0"/>
                </a:solidFill>
                <a:latin typeface="Calibri"/>
              </a:defRPr>
            </a:pPr>
            <a:r>
              <a:t>📊 Automated document generation.</a:t>
            </a:r>
          </a:p>
          <a:p>
            <a:pPr>
              <a:spcAft>
                <a:spcPts val="800"/>
              </a:spcAft>
              <a:defRPr sz="1600">
                <a:solidFill>
                  <a:srgbClr val="B0B0C0"/>
                </a:solidFill>
                <a:latin typeface="Calibri"/>
              </a:defRPr>
            </a:pPr>
            <a:r>
              <a:t>📊 Customized professional PDF-ready exports.</a:t>
            </a:r>
          </a:p>
        </p:txBody>
      </p:sp>
    </p:spTree>
  </p:cSld>
  <p:clrMapOvr>
    <a:masterClrMapping/>
  </p:clrMapOvr>
  <p:transition>
    <p:push dir="l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37160" cy="5486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Interactive Dashboard Hub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5080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9784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🖥️ Top Deals Tracker: Visualizes high-value opportunities.</a:t>
            </a:r>
          </a:p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🖥️ Dynamic Charting: Recharts-powered pipeline health viz.</a:t>
            </a:r>
          </a:p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🖥️ Real-time Alert Feed: 'Competitor Surge', 'Engagement Drop' notifications.</a:t>
            </a:r>
          </a:p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🖥️ One-Click Actions: Direct links to Chat, Emails, and Insights.</a:t>
            </a:r>
          </a:p>
          <a:p>
            <a:pPr>
              <a:spcAft>
                <a:spcPts val="800"/>
              </a:spcAft>
              <a:defRPr sz="1800">
                <a:solidFill>
                  <a:srgbClr val="B0B0C0"/>
                </a:solidFill>
                <a:latin typeface="Calibri"/>
              </a:defRPr>
            </a:pPr>
            <a:r>
              <a:t>🖥️ Global Performance Metrics: Revenue and deal velocity tracking.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37160" cy="5486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  <a:latin typeface="Calibri"/>
              </a:defRPr>
            </a:pPr>
            <a:r>
              <a:t>› React 19 (Vite)</a:t>
            </a: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  <a:latin typeface="Calibri"/>
              </a:defRPr>
            </a:pPr>
            <a:r>
              <a:t>› Lucide Icons</a:t>
            </a: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  <a:latin typeface="Calibri"/>
              </a:defRPr>
            </a:pPr>
            <a:r>
              <a:t>› Recharts Viz</a:t>
            </a: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  <a:latin typeface="Calibri"/>
              </a:defRPr>
            </a:pPr>
            <a:r>
              <a:t>› Vanilla CSS</a:t>
            </a: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  <a:latin typeface="Calibri"/>
              </a:defRPr>
            </a:pPr>
            <a:r>
              <a:t>› Glassmorphism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38328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56032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  <a:latin typeface="Calibri"/>
              </a:defRPr>
            </a:pPr>
            <a:r>
              <a:t>› Node.js / Express</a:t>
            </a: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  <a:latin typeface="Calibri"/>
              </a:defRPr>
            </a:pPr>
            <a:r>
              <a:t>› MongoDB Atlas</a:t>
            </a: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  <a:latin typeface="Calibri"/>
              </a:defRPr>
            </a:pPr>
            <a:r>
              <a:t>› Nodemailer</a:t>
            </a: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  <a:latin typeface="Calibri"/>
              </a:defRPr>
            </a:pPr>
            <a:r>
              <a:t>› WebSpeech API</a:t>
            </a: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  <a:latin typeface="Calibri"/>
              </a:defRPr>
            </a:pPr>
            <a:r>
              <a:t>› RESTful Routes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38328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alibri"/>
              </a:defRPr>
            </a:pPr>
            <a:r>
              <a:t>AI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56032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  <a:latin typeface="Calibri"/>
              </a:defRPr>
            </a:pPr>
            <a:r>
              <a:t>› Google Gemini AI</a:t>
            </a: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  <a:latin typeface="Calibri"/>
              </a:defRPr>
            </a:pPr>
            <a:r>
              <a:t>› OpenAI Wrapper</a:t>
            </a: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  <a:latin typeface="Calibri"/>
              </a:defRPr>
            </a:pPr>
            <a:r>
              <a:t>› NLP Intent Parsing</a:t>
            </a: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  <a:latin typeface="Calibri"/>
              </a:defRPr>
            </a:pPr>
            <a:r>
              <a:t>› Emotion Analysis</a:t>
            </a: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  <a:latin typeface="Calibri"/>
              </a:defRPr>
            </a:pPr>
            <a:r>
              <a:t>› TTS Engines</a:t>
            </a:r>
          </a:p>
        </p:txBody>
      </p:sp>
    </p:spTree>
  </p:cSld>
  <p:clrMapOvr>
    <a:masterClrMapping/>
  </p:clrMapOvr>
  <p:transition>
    <p:push dir="l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37160" cy="5486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645920"/>
            <a:ext cx="8503920" cy="914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Voice / UI Input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560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6C63FF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017520"/>
            <a:ext cx="8503920" cy="13716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3017520"/>
            <a:ext cx="8503920" cy="508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32918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t>Core Engine (React + Node.js)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749039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Intent Parsing  •  AI Logic  •  Data Processing  •  Email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4389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00E67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5029200"/>
            <a:ext cx="5760720" cy="914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521208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76"/>
                </a:solidFill>
                <a:latin typeface="Calibri"/>
              </a:defRPr>
            </a:pPr>
            <a:r>
              <a:t>MongoDB Atlas &amp; AI Cloud</a:t>
            </a:r>
          </a:p>
        </p:txBody>
      </p:sp>
    </p:spTree>
  </p:cSld>
  <p:clrMapOvr>
    <a:masterClrMapping/>
  </p:clrMapOvr>
  <p:transition>
    <p:push dir="l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37160" cy="5486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Competitive Advantage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9728" cy="10058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⚡ Speed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C0"/>
                </a:solidFill>
                <a:latin typeface="Calibri"/>
              </a:defRPr>
            </a:pPr>
            <a:r>
              <a:t>Voice-first navigation reduces CRM admin time by over 50%.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10698480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109728" cy="10058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🧠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1089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C0"/>
                </a:solidFill>
                <a:latin typeface="Calibri"/>
              </a:defRPr>
            </a:pPr>
            <a:r>
              <a:t>Real-time AI insights that predict win rates and highlight risks.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10698480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109728" cy="10058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206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🔗 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297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C0"/>
                </a:solidFill>
                <a:latin typeface="Calibri"/>
              </a:defRPr>
            </a:pPr>
            <a:r>
              <a:t>All-in-one platform eliminating the need for 5 separate tools.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12080"/>
            <a:ext cx="10698480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5212080"/>
            <a:ext cx="109728" cy="10058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394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💎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486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C0"/>
                </a:solidFill>
                <a:latin typeface="Calibri"/>
              </a:defRPr>
            </a:pPr>
            <a:r>
              <a:t>Premium visuals that drive user adoption and elite performance.</a:t>
            </a:r>
          </a:p>
        </p:txBody>
      </p:sp>
    </p:spTree>
  </p:cSld>
  <p:clrMapOvr>
    <a:masterClrMapping/>
  </p:clrMapOvr>
  <p:transition>
    <p:push dir="l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1371600"/>
            <a:ext cx="7589520" cy="4114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0" y="2011680"/>
            <a:ext cx="2103120" cy="6350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22860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20040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2FF"/>
                </a:solidFill>
                <a:latin typeface="Calibri"/>
              </a:defRPr>
            </a:pPr>
            <a:r>
              <a:t>AuraCRM — The Future of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20624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0C0"/>
                </a:solidFill>
                <a:latin typeface="Calibri"/>
              </a:defRPr>
            </a:pPr>
            <a:r>
              <a:t>Ready to Revolutionize Your Pipeline?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